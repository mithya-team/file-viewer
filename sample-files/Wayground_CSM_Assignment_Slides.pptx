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WAYGROUND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 Manager Assignment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3017520"/>
            <a:ext cx="18288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91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Candidate: Aniruddha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Post-Purchase Walkthrough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Exercise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I Chose Slides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1E5F7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457200" cy="457200"/>
          </a:xfrm>
          <a:prstGeom prst="ellipse">
            <a:avLst/>
          </a:prstGeom>
          <a:solidFill>
            <a:srgbClr val="1E5F7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1005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CSM Skills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1325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CSMs create visual materials for QBRs, EBRs, and stakeholder meetings daily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457200" cy="457200"/>
          </a:xfrm>
          <a:prstGeom prst="ellipse">
            <a:avLst/>
          </a:prstGeom>
          <a:solidFill>
            <a:srgbClr val="1E5F74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2011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Thinking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force concise, outcome-focused communication like actual calls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1E5F74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3017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Adaptability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51560" y="3337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format shows how messaging adjusts across personas and grade bands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457200" cy="457200"/>
          </a:xfrm>
          <a:prstGeom prst="ellipse">
            <a:avLst/>
          </a:prstGeom>
          <a:solidFill>
            <a:srgbClr val="1E5F7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51560" y="4023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&amp; Reusable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5156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could be adapted for real customer calls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5F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Post-Purchase Walkthrough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2926080"/>
            <a:ext cx="27432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Persona-led framework for driving adoption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Wayground: Key Value Propositions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1E5F74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platform used in 90% of U.S. schools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34747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25880"/>
            <a:ext cx="73152" cy="3474720"/>
          </a:xfrm>
          <a:prstGeom prst="rect">
            <a:avLst/>
          </a:prstGeom>
          <a:solidFill>
            <a:srgbClr val="1E5F7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once, sync everywhere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modifications (IEP/504)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to peers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0233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compliance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1325880"/>
            <a:ext cx="2651760" cy="34747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3" name="Shape 11"/>
          <p:cNvSpPr/>
          <p:nvPr/>
        </p:nvSpPr>
        <p:spPr>
          <a:xfrm>
            <a:off x="3291840" y="1325880"/>
            <a:ext cx="73152" cy="347472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1463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74720" y="1965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Assessments &amp; Quizzes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651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&amp; Passages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3337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Videos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74720" y="40233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Flashcards &amp; VoyageMath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1325880"/>
            <a:ext cx="2651760" cy="34747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126480" y="1325880"/>
            <a:ext cx="73152" cy="3474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463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Efficiency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309360" y="19659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from prompts/docs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09360" y="26517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Auto-grading open-ended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33375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explanations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402336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Differentiated versions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Persona: Principal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0" y="320040"/>
            <a:ext cx="1828800" cy="365760"/>
          </a:xfrm>
          <a:prstGeom prst="rect">
            <a:avLst/>
          </a:prstGeom>
          <a:solidFill>
            <a:srgbClr val="1E5F74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0" y="320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1E5F7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4023360" cy="173736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School-wide achievement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IEP/504 compliance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demonstration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satisfaction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4023360" cy="13716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visibility into adoption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documentation burden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tool fatigue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023360" cy="3200400"/>
          </a:xfrm>
          <a:prstGeom prst="rect">
            <a:avLst/>
          </a:prstGeom>
          <a:solidFill>
            <a:srgbClr val="1E5F74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Approach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46304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Dashboard analytics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Central Accommodations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Team content sharing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Executive-level, outcome-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focused. Lead with ROI.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feature-dumps.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Persona: Instructional Tech Lead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0" y="320040"/>
            <a:ext cx="1828800" cy="3657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0" y="320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4023360" cy="173736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rollout &amp; adoption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integration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the go-to resource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value to leadership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4023360" cy="13716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resistance to new tools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complexity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training time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023360" cy="32004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Approach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46304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LMS integration setup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SSO with Clever/ClassLink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Training &amp; PD resources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Usage monitoring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detail welcome.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 them to drive adoption.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Persona: Teachers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0" y="320040"/>
            <a:ext cx="1828800" cy="3657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0" y="320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4023360" cy="173736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3657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time on prep &amp; grading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students engaged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diverse learning needs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actionable progress data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4023360" cy="13716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26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2461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"Too busy" for new tools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Differentiating for 25+ students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burden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023360" cy="3200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Approach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46304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content from existing materials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One-click differentiation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Gamified assessments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insights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Practical, empathetic. Show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wins. Respect their time.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Grade-Band Adjustments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1E5F7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2651760" cy="457200"/>
          </a:xfrm>
          <a:prstGeom prst="rect">
            <a:avLst/>
          </a:prstGeom>
          <a:solidFill>
            <a:srgbClr val="9C27B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Elementary (K-5)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651760" cy="32004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00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C2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Tone: Warm, nurturing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5603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Aloud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154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reports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749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questions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051560"/>
            <a:ext cx="2651760" cy="457200"/>
          </a:xfrm>
          <a:prstGeom prst="rect">
            <a:avLst/>
          </a:prstGeom>
          <a:solidFill>
            <a:srgbClr val="1E5F74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051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(6-8)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91840" y="1508760"/>
            <a:ext cx="2651760" cy="32004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1600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Tone: Energetic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29000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VoyageMath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25603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3154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modes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3749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Submit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1051560"/>
            <a:ext cx="2651760" cy="4572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051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(9-12)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26480" y="1508760"/>
            <a:ext cx="2651760" cy="32004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16002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Tone: Professional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19659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alignment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25603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Mode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63640" y="31546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A/V responses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3749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sync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30-Min Conversation Framework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1E5F74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1005840"/>
            <a:ext cx="548640" cy="548640"/>
          </a:xfrm>
          <a:prstGeom prst="ellipse">
            <a:avLst/>
          </a:prstGeom>
          <a:solidFill>
            <a:srgbClr val="1E5F74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554480" y="1280160"/>
            <a:ext cx="1188720" cy="0"/>
          </a:xfrm>
          <a:prstGeom prst="line">
            <a:avLst/>
          </a:prstGeom>
          <a:noFill/>
          <a:ln w="25400">
            <a:solidFill>
              <a:srgbClr val="1E5F74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0" y="1005840"/>
            <a:ext cx="548640" cy="548640"/>
          </a:xfrm>
          <a:prstGeom prst="ellipse">
            <a:avLst/>
          </a:prstGeom>
          <a:solidFill>
            <a:srgbClr val="1E5F74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0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1188720" cy="0"/>
          </a:xfrm>
          <a:prstGeom prst="line">
            <a:avLst/>
          </a:prstGeom>
          <a:noFill/>
          <a:ln w="25400">
            <a:solidFill>
              <a:srgbClr val="1E5F74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194560" y="1645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80560" y="1005840"/>
            <a:ext cx="548640" cy="548640"/>
          </a:xfrm>
          <a:prstGeom prst="ellipse">
            <a:avLst/>
          </a:prstGeom>
          <a:solidFill>
            <a:srgbClr val="1E5F74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10-22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1280160"/>
            <a:ext cx="1188720" cy="0"/>
          </a:xfrm>
          <a:prstGeom prst="line">
            <a:avLst/>
          </a:prstGeom>
          <a:noFill/>
          <a:ln w="25400">
            <a:solidFill>
              <a:srgbClr val="1E5F74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3931920" y="1645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1005840"/>
            <a:ext cx="548640" cy="548640"/>
          </a:xfrm>
          <a:prstGeom prst="ellipse">
            <a:avLst/>
          </a:prstGeom>
          <a:solidFill>
            <a:srgbClr val="1E5F74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22-27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1280160"/>
            <a:ext cx="1188720" cy="0"/>
          </a:xfrm>
          <a:prstGeom prst="line">
            <a:avLst/>
          </a:prstGeom>
          <a:noFill/>
          <a:ln w="25400">
            <a:solidFill>
              <a:srgbClr val="1E5F74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669280" y="1645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955280" y="1005840"/>
            <a:ext cx="548640" cy="548640"/>
          </a:xfrm>
          <a:prstGeom prst="ellipse">
            <a:avLst/>
          </a:prstGeom>
          <a:solidFill>
            <a:srgbClr val="1E5F74"/>
          </a:solidFill>
          <a:ln/>
        </p:spPr>
      </p:sp>
      <p:sp>
        <p:nvSpPr>
          <p:cNvPr id="21" name="Text 19"/>
          <p:cNvSpPr/>
          <p:nvPr/>
        </p:nvSpPr>
        <p:spPr>
          <a:xfrm>
            <a:off x="7955280" y="1005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27-30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16459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2194560"/>
            <a:ext cx="8229600" cy="25603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331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" y="274320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over features: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helps you achieve X" not "Feature does Y"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baseline &amp; targets: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→ Desired state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bridge: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every workflow to their stated goals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next steps: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with owners, dates, follow-up scheduled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Problem-Solving Exercise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457200" y="2926080"/>
            <a:ext cx="27432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adoption scenario: Diagnosis &amp; recovery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Root Cause Analysis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3931920" cy="16459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Weeks Post-Onboarding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lower than expected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teachers active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Lead responsive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gone quiet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"too busy"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4114800" cy="1645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097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Hypothesis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4630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gap, not product fit issue. Path from purchase to daily classroom use hasn't been established.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Root Causes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365760" cy="365760"/>
          </a:xfrm>
          <a:prstGeom prst="ellipse">
            <a:avLst/>
          </a:prstGeom>
          <a:solidFill>
            <a:srgbClr val="1E5F74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Disconnect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36118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see "another tool" not time-saver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51760" y="3200400"/>
            <a:ext cx="365760" cy="365760"/>
          </a:xfrm>
          <a:prstGeom prst="ellipse">
            <a:avLst/>
          </a:prstGeom>
          <a:solidFill>
            <a:srgbClr val="1E5F74"/>
          </a:solidFill>
          <a:ln/>
        </p:spPr>
      </p:sp>
      <p:sp>
        <p:nvSpPr>
          <p:cNvPr id="16" name="Text 14"/>
          <p:cNvSpPr/>
          <p:nvPr/>
        </p:nvSpPr>
        <p:spPr>
          <a:xfrm>
            <a:off x="265176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0896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Activation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36118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Lead lacks authority to drive behavior change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3200400"/>
            <a:ext cx="365760" cy="365760"/>
          </a:xfrm>
          <a:prstGeom prst="ellipse">
            <a:avLst/>
          </a:prstGeom>
          <a:solidFill>
            <a:srgbClr val="1E5F74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0352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Disengagement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6118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executive signal = deprioritization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40880" y="3200400"/>
            <a:ext cx="365760" cy="365760"/>
          </a:xfrm>
          <a:prstGeom prst="ellipse">
            <a:avLst/>
          </a:prstGeom>
          <a:solidFill>
            <a:srgbClr val="1E5F74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98080" y="3200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Gap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40880" y="36118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too generic, no quick wins shown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Signals &amp; Data to Check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1E5F7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frequency by teacher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931920" y="1143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power users? → Leverage as advocates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8229600" cy="5943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creation vs. library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0" y="1783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creation = friction getting started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8229600" cy="59436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23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participation rates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3192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engagement = proof for reluctant teachers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8229600" cy="5943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63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integration status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31920" y="3063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to access = friction to adopt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8229600" cy="59436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03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Accommodations setup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0" y="3703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value driver for principals - if not set up, missing ROI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8229600" cy="59436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343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goals from sales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31920" y="4343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onboarding address their specific use case?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14-Day Action Plan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37490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1: Diagnose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1-2: Champion Deep-Dive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30-min call with IT Lead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Understand specific blockers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Identify tech-forward teachers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3-4: Principal Re-engagement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Executive summary email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Frame around THEIR goals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Request 15-min call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5-7: Teacher Pulse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Quick 3-question survey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Identify 2-3 pilot teachers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023360" cy="3749040"/>
          </a:xfrm>
          <a:prstGeom prst="rect">
            <a:avLst/>
          </a:prstGeom>
          <a:solidFill>
            <a:srgbClr val="1E5F74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2: Activate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50876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8-10: Pilot Teacher Sprint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20-min 1:1 sessions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workflow solving THEIR pain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first content together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11-12: Bite-Sized Training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15-min "lunch and learn"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"Quiz in 2 min with AI"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Record for absent teachers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13-14: Progress Report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Compile early wins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 with Principal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I Would Involve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1E5F7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8686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Instructional Tech Lead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0" y="12344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check-ins, co-create training, share wins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868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57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Sponsor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21945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summaries, ROI focus, ask for endorsement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8686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17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Teachers (2-3)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Advocates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3154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support, capture stories, enable peer sharing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886200"/>
            <a:ext cx="8229600" cy="86868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977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Wayground Internal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4343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41148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training content, similar school case studies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Success: 30-60 Day Metrics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54864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4114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Targets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023360" cy="22860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teachers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1760" y="1508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20-30% weekly logins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2057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assessments/lessons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606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engaged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2606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scheduled or completed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154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3154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success stories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005840"/>
            <a:ext cx="4023360" cy="411480"/>
          </a:xfrm>
          <a:prstGeom prst="rect">
            <a:avLst/>
          </a:prstGeom>
          <a:solidFill>
            <a:srgbClr val="1E5F74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0058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Targets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1417320"/>
            <a:ext cx="4023360" cy="22860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508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teachers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1508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40-50% weekly usage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0574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sessions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2057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 completed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2606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26060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setup for IEP/504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154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QBR scheduled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3154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review booked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931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Approach Summary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0080" y="4251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before prescribing. Re-engage Principal while empowering IT Lead. Create visible quick wins with pilot teachers who become internal advocates. Maintain clear cadence: weekly champion check-ins, executive summaries to sponsor, monthly QBR prep.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5F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457200" y="2743200"/>
            <a:ext cx="1828800" cy="7315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017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look forward to discussing this approach and learning more about Wayground's customer success philosophy.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Aniruddha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Wayground CSM Assignment</dc:title>
  <dc:subject>PptxGenJS Presentation</dc:subject>
  <dc:creator>Aniruddha</dc:creator>
  <cp:lastModifiedBy>Aniruddha</cp:lastModifiedBy>
  <cp:revision>1</cp:revision>
  <dcterms:created xsi:type="dcterms:W3CDTF">2026-01-29T17:34:42Z</dcterms:created>
  <dcterms:modified xsi:type="dcterms:W3CDTF">2026-01-29T17:34:42Z</dcterms:modified>
</cp:coreProperties>
</file>